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9" r:id="rId13"/>
    <p:sldId id="266" r:id="rId14"/>
    <p:sldId id="277" r:id="rId15"/>
    <p:sldId id="278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64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70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7552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0" dirty="0"/>
              <a:t>18-02-2025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‹#›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8199" y="775855"/>
            <a:ext cx="10674985" cy="5445125"/>
          </a:xfrm>
          <a:custGeom>
            <a:avLst/>
            <a:gdLst/>
            <a:ahLst/>
            <a:cxnLst/>
            <a:rect l="l" t="t" r="r" b="b"/>
            <a:pathLst>
              <a:path w="10674985" h="5445125">
                <a:moveTo>
                  <a:pt x="0" y="0"/>
                </a:moveTo>
                <a:lnTo>
                  <a:pt x="10674926" y="0"/>
                </a:lnTo>
                <a:lnTo>
                  <a:pt x="10674926" y="5444835"/>
                </a:lnTo>
                <a:lnTo>
                  <a:pt x="0" y="544483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0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7552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0" dirty="0"/>
              <a:t>18-02-2025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‹#›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0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7552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0" dirty="0"/>
              <a:t>18-02-2025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‹#›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0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7552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0" dirty="0"/>
              <a:t>18-02-2025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‹#›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7552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0" dirty="0"/>
              <a:t>18-02-2025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‹#›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4015" y="240908"/>
            <a:ext cx="7623968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70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1638736"/>
            <a:ext cx="10200640" cy="423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72732" y="6466776"/>
            <a:ext cx="184530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7552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20" dirty="0"/>
              <a:t>18-02-2025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5491" y="6435725"/>
            <a:ext cx="244597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‹#›</a:t>
            </a:fld>
            <a:endParaRPr sz="180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204.07032" TargetMode="External"/><Relationship Id="rId2" Type="http://schemas.openxmlformats.org/officeDocument/2006/relationships/hyperlink" Target="https://doi.org/10.22214/ijraset.2023.5318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rjet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5731" y="1203440"/>
            <a:ext cx="8864600" cy="1861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5155" marR="3137535" algn="ctr">
              <a:lnSpc>
                <a:spcPct val="1173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Academic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25" dirty="0">
                <a:latin typeface="Cambria"/>
                <a:cs typeface="Cambria"/>
              </a:rPr>
              <a:t>Year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2024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25" dirty="0">
                <a:latin typeface="Cambria"/>
                <a:cs typeface="Cambria"/>
              </a:rPr>
              <a:t>25 </a:t>
            </a:r>
            <a:r>
              <a:rPr sz="1800" b="1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lang="en-IN" sz="1800" b="1" dirty="0">
                <a:solidFill>
                  <a:srgbClr val="C00000"/>
                </a:solidFill>
                <a:latin typeface="Cambria"/>
                <a:cs typeface="Cambria"/>
              </a:rPr>
              <a:t>8</a:t>
            </a:r>
            <a:r>
              <a:rPr sz="1800" b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PROJECT</a:t>
            </a:r>
            <a:r>
              <a:rPr lang="en-IN" sz="1800" b="1" spc="-10" dirty="0">
                <a:solidFill>
                  <a:srgbClr val="C00000"/>
                </a:solidFill>
                <a:latin typeface="Cambria"/>
                <a:cs typeface="Cambria"/>
              </a:rPr>
              <a:t> WORK</a:t>
            </a:r>
            <a:r>
              <a:rPr sz="18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IN" sz="1800" b="1" spc="-25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1800" b="1" spc="-50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endParaRPr sz="1800" dirty="0">
              <a:latin typeface="Cambria"/>
              <a:cs typeface="Cambria"/>
            </a:endParaRPr>
          </a:p>
          <a:p>
            <a:pPr algn="ctr">
              <a:lnSpc>
                <a:spcPts val="1800"/>
              </a:lnSpc>
            </a:pPr>
            <a:r>
              <a:rPr lang="en-IN" b="1" spc="-25" dirty="0">
                <a:latin typeface="Cambria"/>
                <a:cs typeface="Cambria"/>
              </a:rPr>
              <a:t>Second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Review</a:t>
            </a:r>
            <a:endParaRPr sz="18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20" dirty="0">
                <a:solidFill>
                  <a:srgbClr val="375523"/>
                </a:solidFill>
                <a:latin typeface="Cambria"/>
                <a:cs typeface="Cambria"/>
              </a:rPr>
              <a:t>PROJECT</a:t>
            </a:r>
            <a:r>
              <a:rPr sz="2400" b="1" spc="-65" dirty="0">
                <a:solidFill>
                  <a:srgbClr val="375523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375523"/>
                </a:solidFill>
                <a:latin typeface="Cambria"/>
                <a:cs typeface="Cambria"/>
              </a:rPr>
              <a:t>TITLE</a:t>
            </a:r>
            <a:endParaRPr lang="en-IN" sz="2400" b="1" spc="-20" dirty="0">
              <a:solidFill>
                <a:srgbClr val="375523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lang="en-IN" sz="2000" b="1" spc="-2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AI-BASED FARMER QUERY SUPPORT AND ADVISORY SYSTEM</a:t>
            </a:r>
            <a:endParaRPr lang="en-US" sz="2000" b="1" spc="-20" dirty="0">
              <a:solidFill>
                <a:schemeClr val="tx2"/>
              </a:solidFill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9838" y="145402"/>
            <a:ext cx="7378425" cy="10456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0200" y="4900347"/>
            <a:ext cx="3365987" cy="17201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30000"/>
              </a:lnSpc>
              <a:spcBef>
                <a:spcPts val="100"/>
              </a:spcBef>
            </a:pPr>
            <a:r>
              <a:rPr sz="1850" b="1" spc="-50" dirty="0">
                <a:solidFill>
                  <a:srgbClr val="375523"/>
                </a:solidFill>
                <a:latin typeface="Cambria"/>
                <a:cs typeface="Cambria"/>
              </a:rPr>
              <a:t>BATCH</a:t>
            </a:r>
            <a:r>
              <a:rPr sz="1850" b="1" spc="-30" dirty="0">
                <a:solidFill>
                  <a:srgbClr val="375523"/>
                </a:solidFill>
                <a:latin typeface="Cambria"/>
                <a:cs typeface="Cambria"/>
              </a:rPr>
              <a:t> </a:t>
            </a:r>
            <a:r>
              <a:rPr sz="1850" b="1" spc="-10" dirty="0">
                <a:solidFill>
                  <a:srgbClr val="375523"/>
                </a:solidFill>
                <a:latin typeface="Cambria"/>
                <a:cs typeface="Cambria"/>
              </a:rPr>
              <a:t>MEMBERS </a:t>
            </a:r>
            <a:endParaRPr lang="en-US" sz="1650" b="1" spc="-10" dirty="0">
              <a:solidFill>
                <a:srgbClr val="7030A0"/>
              </a:solidFill>
              <a:latin typeface="Cambria"/>
              <a:cs typeface="Cambria"/>
            </a:endParaRPr>
          </a:p>
          <a:p>
            <a:pPr marL="12065" marR="5080" algn="ctr">
              <a:lnSpc>
                <a:spcPct val="130000"/>
              </a:lnSpc>
              <a:spcBef>
                <a:spcPts val="100"/>
              </a:spcBef>
            </a:pPr>
            <a:r>
              <a:rPr lang="en-US" sz="1650" b="1" spc="-10" dirty="0">
                <a:solidFill>
                  <a:srgbClr val="7030A0"/>
                </a:solidFill>
                <a:latin typeface="Cambria"/>
                <a:cs typeface="Cambria"/>
              </a:rPr>
              <a:t>HARI HARAN D (7376222AD140)</a:t>
            </a:r>
          </a:p>
          <a:p>
            <a:pPr marL="12065" marR="5080" algn="ctr">
              <a:lnSpc>
                <a:spcPct val="130000"/>
              </a:lnSpc>
              <a:spcBef>
                <a:spcPts val="100"/>
              </a:spcBef>
            </a:pPr>
            <a:r>
              <a:rPr lang="en-US" sz="1650" b="1" spc="-10" dirty="0">
                <a:solidFill>
                  <a:srgbClr val="7030A0"/>
                </a:solidFill>
                <a:latin typeface="Cambria"/>
                <a:cs typeface="Cambria"/>
              </a:rPr>
              <a:t>ABIRAMI D R (7376222AD107)</a:t>
            </a:r>
          </a:p>
          <a:p>
            <a:pPr marL="12065" marR="5080" algn="ctr">
              <a:lnSpc>
                <a:spcPct val="130000"/>
              </a:lnSpc>
              <a:spcBef>
                <a:spcPts val="100"/>
              </a:spcBef>
            </a:pPr>
            <a:r>
              <a:rPr lang="en-US" sz="1650" b="1" spc="-10" dirty="0">
                <a:solidFill>
                  <a:srgbClr val="7030A0"/>
                </a:solidFill>
                <a:latin typeface="Cambria"/>
                <a:cs typeface="Cambria"/>
              </a:rPr>
              <a:t>ARUNA A (7376221CD104)</a:t>
            </a:r>
          </a:p>
          <a:p>
            <a:pPr marL="12065" marR="5080" algn="ctr">
              <a:lnSpc>
                <a:spcPct val="130000"/>
              </a:lnSpc>
              <a:spcBef>
                <a:spcPts val="100"/>
              </a:spcBef>
            </a:pPr>
            <a:endParaRPr sz="165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1800" y="4858508"/>
            <a:ext cx="4123054" cy="159210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000" b="1" spc="-10" dirty="0">
                <a:solidFill>
                  <a:srgbClr val="375523"/>
                </a:solidFill>
                <a:latin typeface="Cambria"/>
                <a:cs typeface="Cambria"/>
              </a:rPr>
              <a:t>GUIDE</a:t>
            </a:r>
            <a:endParaRPr sz="20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lang="en-US" b="1" dirty="0" err="1">
                <a:solidFill>
                  <a:srgbClr val="7030A0"/>
                </a:solidFill>
                <a:latin typeface="Cambria"/>
                <a:cs typeface="Cambria"/>
              </a:rPr>
              <a:t>Mr</a:t>
            </a:r>
            <a:r>
              <a:rPr lang="en-US" b="1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Cambria"/>
                <a:cs typeface="Cambria"/>
              </a:rPr>
              <a:t>Chozharajan</a:t>
            </a:r>
            <a:r>
              <a:rPr lang="en-US" b="1" dirty="0">
                <a:solidFill>
                  <a:srgbClr val="7030A0"/>
                </a:solidFill>
                <a:latin typeface="Cambria"/>
                <a:cs typeface="Cambria"/>
              </a:rPr>
              <a:t> P</a:t>
            </a:r>
            <a:endParaRPr lang="en-US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z="1800" b="1" spc="-10" dirty="0">
                <a:solidFill>
                  <a:srgbClr val="7030A0"/>
                </a:solidFill>
                <a:latin typeface="Cambria"/>
                <a:cs typeface="Cambria"/>
              </a:rPr>
              <a:t>Ass</a:t>
            </a:r>
            <a:r>
              <a:rPr lang="en-US" sz="1800" b="1" spc="-10" dirty="0">
                <a:solidFill>
                  <a:srgbClr val="7030A0"/>
                </a:solidFill>
                <a:latin typeface="Cambria"/>
                <a:cs typeface="Cambria"/>
              </a:rPr>
              <a:t>istant </a:t>
            </a:r>
            <a:r>
              <a:rPr sz="1800" b="1" spc="-45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7030A0"/>
                </a:solidFill>
                <a:latin typeface="Cambria"/>
                <a:cs typeface="Cambria"/>
              </a:rPr>
              <a:t>Professor</a:t>
            </a:r>
            <a:r>
              <a:rPr lang="en-US" sz="1800" b="1" spc="-10" dirty="0">
                <a:solidFill>
                  <a:srgbClr val="7030A0"/>
                </a:solidFill>
                <a:latin typeface="Cambria"/>
                <a:cs typeface="Cambria"/>
              </a:rPr>
              <a:t> - II</a:t>
            </a:r>
            <a:r>
              <a:rPr sz="1800" b="1" spc="-10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endParaRPr lang="en-US" sz="1800" b="1" spc="-10" dirty="0">
              <a:solidFill>
                <a:srgbClr val="7030A0"/>
              </a:solidFill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solidFill>
                  <a:srgbClr val="7030A0"/>
                </a:solidFill>
                <a:latin typeface="Cambria"/>
                <a:cs typeface="Cambria"/>
              </a:rPr>
              <a:t>Department</a:t>
            </a:r>
            <a:r>
              <a:rPr sz="1800" b="1" spc="-40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7030A0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lang="en-US" b="1" spc="-10" dirty="0">
                <a:solidFill>
                  <a:srgbClr val="7030A0"/>
                </a:solidFill>
                <a:latin typeface="Cambria"/>
                <a:cs typeface="Cambria"/>
              </a:rPr>
              <a:t>Artificial Intelligence and Data Science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7400" y="3860384"/>
            <a:ext cx="16656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F5496"/>
                </a:solidFill>
                <a:latin typeface="Cambria"/>
                <a:cs typeface="Cambria"/>
              </a:rPr>
              <a:t>BIP</a:t>
            </a:r>
            <a:r>
              <a:rPr sz="1800" b="1" spc="-30" dirty="0">
                <a:solidFill>
                  <a:srgbClr val="2F5496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2F5496"/>
                </a:solidFill>
                <a:latin typeface="Cambria"/>
                <a:cs typeface="Cambria"/>
              </a:rPr>
              <a:t>PROJECT</a:t>
            </a:r>
            <a:r>
              <a:rPr sz="1800" b="1" spc="-30" dirty="0">
                <a:solidFill>
                  <a:srgbClr val="2F5496"/>
                </a:solidFill>
                <a:latin typeface="Cambria"/>
                <a:cs typeface="Cambria"/>
              </a:rPr>
              <a:t> </a:t>
            </a:r>
            <a:r>
              <a:rPr sz="1800" b="1" spc="-35" dirty="0">
                <a:solidFill>
                  <a:srgbClr val="2F5496"/>
                </a:solidFill>
                <a:latin typeface="Cambria"/>
                <a:cs typeface="Cambria"/>
              </a:rPr>
              <a:t>ID </a:t>
            </a:r>
            <a:r>
              <a:rPr lang="en-IN" b="1" spc="-10" dirty="0">
                <a:solidFill>
                  <a:srgbClr val="2F5496"/>
                </a:solidFill>
                <a:latin typeface="Cambria"/>
                <a:cs typeface="Cambria"/>
              </a:rPr>
              <a:t>2026IN024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95309" y="3793282"/>
            <a:ext cx="129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 marR="5080" indent="-90805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2F5496"/>
                </a:solidFill>
                <a:latin typeface="Cambria"/>
                <a:cs typeface="Cambria"/>
              </a:rPr>
              <a:t>CATERGORY </a:t>
            </a: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INTERNAL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983673"/>
            <a:ext cx="10515600" cy="5193665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932" y="145588"/>
            <a:ext cx="5047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F5496"/>
                </a:solidFill>
              </a:rPr>
              <a:t>AIM</a:t>
            </a:r>
            <a:r>
              <a:rPr spc="-5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&amp;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OBJECTIVES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OF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THE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PROJECT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4546" y="371762"/>
            <a:ext cx="10175837" cy="475643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656965">
              <a:lnSpc>
                <a:spcPct val="100000"/>
              </a:lnSpc>
              <a:spcBef>
                <a:spcPts val="910"/>
              </a:spcBef>
            </a:pPr>
            <a:r>
              <a:rPr sz="2400" b="1" spc="-10" dirty="0">
                <a:solidFill>
                  <a:srgbClr val="2F5496"/>
                </a:solidFill>
                <a:latin typeface="Cambria"/>
                <a:cs typeface="Cambria"/>
              </a:rPr>
              <a:t>(Problem</a:t>
            </a:r>
            <a:r>
              <a:rPr sz="2400" b="1" spc="-95" dirty="0">
                <a:solidFill>
                  <a:srgbClr val="2F5496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2F5496"/>
                </a:solidFill>
                <a:latin typeface="Cambria"/>
                <a:cs typeface="Cambria"/>
              </a:rPr>
              <a:t>Statement)</a:t>
            </a:r>
            <a:endParaRPr lang="en-IN" sz="2400" b="1" spc="-10" dirty="0">
              <a:solidFill>
                <a:srgbClr val="2F549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187325" algn="l"/>
              </a:tabLst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AIM:</a:t>
            </a:r>
          </a:p>
          <a:p>
            <a:pPr marL="12700" algn="l" rtl="0">
              <a:spcBef>
                <a:spcPts val="944"/>
              </a:spcBef>
              <a:tabLst>
                <a:tab pos="187325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aim of this project is to develop an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Farmer Query Support and Advisory System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helps farmers get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quick, accurate, and easy-to-understand agricultural advice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modern AI and web technologies.</a:t>
            </a:r>
          </a:p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187325" algn="l"/>
              </a:tabLst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PROBLEM STATEMENT</a:t>
            </a:r>
          </a:p>
          <a:p>
            <a:pPr marL="12700" algn="l" rtl="0">
              <a:spcBef>
                <a:spcPts val="944"/>
              </a:spcBef>
              <a:tabLst>
                <a:tab pos="187325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often face difficulty in accessing correct agricultural information at the right time. Existing systems are complex, do not support regional languages, and depend heavily on middlemen. There is a need for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AI-based advisory system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provides reliable information in a farmer-friendly manner.</a:t>
            </a:r>
          </a:p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187325" algn="l"/>
              </a:tabLst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225" y="6378575"/>
            <a:ext cx="1090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solidFill>
                  <a:srgbClr val="375523"/>
                </a:solidFill>
                <a:latin typeface="Calibri"/>
                <a:cs typeface="Calibri"/>
              </a:rPr>
              <a:t>26</a:t>
            </a:r>
            <a:r>
              <a:rPr sz="1800" b="1" spc="-20" dirty="0">
                <a:solidFill>
                  <a:srgbClr val="375523"/>
                </a:solidFill>
                <a:latin typeface="Calibri"/>
                <a:cs typeface="Calibri"/>
              </a:rPr>
              <a:t>-0</a:t>
            </a:r>
            <a:r>
              <a:rPr lang="en-IN" b="1" spc="-20" dirty="0">
                <a:solidFill>
                  <a:srgbClr val="375523"/>
                </a:solidFill>
                <a:latin typeface="Calibri"/>
                <a:cs typeface="Calibri"/>
              </a:rPr>
              <a:t>2</a:t>
            </a:r>
            <a:r>
              <a:rPr sz="1800" b="1" spc="-20" dirty="0">
                <a:solidFill>
                  <a:srgbClr val="375523"/>
                </a:solidFill>
                <a:latin typeface="Calibri"/>
                <a:cs typeface="Calibri"/>
              </a:rPr>
              <a:t>-202</a:t>
            </a:r>
            <a:r>
              <a:rPr lang="en-IN" sz="1800" b="1" spc="-20" dirty="0">
                <a:solidFill>
                  <a:srgbClr val="375523"/>
                </a:solidFill>
                <a:latin typeface="Calibri"/>
                <a:cs typeface="Calibri"/>
              </a:rPr>
              <a:t>6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5971" y="6378575"/>
            <a:ext cx="323882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45" dirty="0">
                <a:solidFill>
                  <a:srgbClr val="375523"/>
                </a:solidFill>
                <a:latin typeface="Calibri"/>
                <a:cs typeface="Calibri"/>
              </a:rPr>
              <a:t>SECOND</a:t>
            </a:r>
            <a:r>
              <a:rPr sz="1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5523"/>
                </a:solidFill>
                <a:latin typeface="Calibri"/>
                <a:cs typeface="Calibri"/>
              </a:rPr>
              <a:t>REVIEW</a:t>
            </a:r>
            <a:r>
              <a:rPr sz="1800" b="1" spc="-40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75523"/>
                </a:solidFill>
                <a:latin typeface="Calibri"/>
                <a:cs typeface="Calibri"/>
              </a:rPr>
              <a:t>PRESENTATION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40384" y="637857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379A99-FB02-305F-F762-A98348C4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7EB853-FD2A-EFB9-33ED-F54F0E4E2CB3}"/>
              </a:ext>
            </a:extLst>
          </p:cNvPr>
          <p:cNvSpPr/>
          <p:nvPr/>
        </p:nvSpPr>
        <p:spPr>
          <a:xfrm>
            <a:off x="838200" y="983673"/>
            <a:ext cx="10515600" cy="5193665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FC40ECF-76DE-3154-7489-BE4A449BC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932" y="145588"/>
            <a:ext cx="5047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F5496"/>
                </a:solidFill>
              </a:rPr>
              <a:t>AIM</a:t>
            </a:r>
            <a:r>
              <a:rPr spc="-5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&amp;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OBJECTIVES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OF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THE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PROJECT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F887284-3495-38D0-04D1-5F5B80119668}"/>
              </a:ext>
            </a:extLst>
          </p:cNvPr>
          <p:cNvSpPr txBox="1"/>
          <p:nvPr/>
        </p:nvSpPr>
        <p:spPr>
          <a:xfrm>
            <a:off x="964546" y="371762"/>
            <a:ext cx="10175837" cy="431015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656965">
              <a:lnSpc>
                <a:spcPct val="100000"/>
              </a:lnSpc>
              <a:spcBef>
                <a:spcPts val="910"/>
              </a:spcBef>
            </a:pPr>
            <a:r>
              <a:rPr sz="2400" b="1" spc="-10" dirty="0">
                <a:solidFill>
                  <a:srgbClr val="2F5496"/>
                </a:solidFill>
                <a:latin typeface="Cambria"/>
                <a:cs typeface="Cambria"/>
              </a:rPr>
              <a:t>(Problem</a:t>
            </a:r>
            <a:r>
              <a:rPr sz="2400" b="1" spc="-95" dirty="0">
                <a:solidFill>
                  <a:srgbClr val="2F5496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2F5496"/>
                </a:solidFill>
                <a:latin typeface="Cambria"/>
                <a:cs typeface="Cambria"/>
              </a:rPr>
              <a:t>Statement)</a:t>
            </a:r>
            <a:endParaRPr lang="en-IN" sz="2400" b="1" spc="-10" dirty="0">
              <a:solidFill>
                <a:srgbClr val="2F549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187325" algn="l"/>
              </a:tabLst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OBJECTIVE:</a:t>
            </a:r>
          </a:p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187325" algn="l"/>
              </a:tabLst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457200" lvl="0" indent="-334803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help farmers get quick agricultural advice</a:t>
            </a:r>
          </a:p>
          <a:p>
            <a:pPr marL="457200" lvl="0" indent="-33480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farmer questions</a:t>
            </a:r>
          </a:p>
          <a:p>
            <a:pPr marL="457200" lvl="0" indent="-33480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Tamil and English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</a:t>
            </a:r>
          </a:p>
          <a:p>
            <a:pPr marL="457200" lvl="0" indent="-33480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weather and market price information</a:t>
            </a:r>
          </a:p>
          <a:p>
            <a:pPr marL="457200" lvl="0" indent="-33480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build a simple and user-friendly web system</a:t>
            </a:r>
          </a:p>
          <a:p>
            <a:pPr marL="457200" lvl="0" indent="-33480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store farmer data using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/ MySQL</a:t>
            </a:r>
          </a:p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187325" algn="l"/>
              </a:tabLst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AA7614-B1F6-2986-2656-AD8E42590094}"/>
              </a:ext>
            </a:extLst>
          </p:cNvPr>
          <p:cNvSpPr txBox="1"/>
          <p:nvPr/>
        </p:nvSpPr>
        <p:spPr>
          <a:xfrm>
            <a:off x="911225" y="6378575"/>
            <a:ext cx="1090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20" dirty="0">
                <a:solidFill>
                  <a:srgbClr val="375523"/>
                </a:solidFill>
                <a:latin typeface="Calibri"/>
                <a:cs typeface="Calibri"/>
              </a:rPr>
              <a:t>26</a:t>
            </a:r>
            <a:r>
              <a:rPr sz="1800" b="1" spc="-20" dirty="0">
                <a:solidFill>
                  <a:srgbClr val="375523"/>
                </a:solidFill>
                <a:latin typeface="Calibri"/>
                <a:cs typeface="Calibri"/>
              </a:rPr>
              <a:t>-0</a:t>
            </a:r>
            <a:r>
              <a:rPr lang="en-IN" b="1" spc="-20" dirty="0">
                <a:solidFill>
                  <a:srgbClr val="375523"/>
                </a:solidFill>
                <a:latin typeface="Calibri"/>
                <a:cs typeface="Calibri"/>
              </a:rPr>
              <a:t>2</a:t>
            </a:r>
            <a:r>
              <a:rPr sz="1800" b="1" spc="-20" dirty="0">
                <a:solidFill>
                  <a:srgbClr val="375523"/>
                </a:solidFill>
                <a:latin typeface="Calibri"/>
                <a:cs typeface="Calibri"/>
              </a:rPr>
              <a:t>-202</a:t>
            </a:r>
            <a:r>
              <a:rPr lang="en-IN" sz="1800" b="1" spc="-20" dirty="0">
                <a:solidFill>
                  <a:srgbClr val="375523"/>
                </a:solidFill>
                <a:latin typeface="Calibri"/>
                <a:cs typeface="Calibri"/>
              </a:rPr>
              <a:t>6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8BCDD96-00BF-D2D2-28E0-AB96C4F73316}"/>
              </a:ext>
            </a:extLst>
          </p:cNvPr>
          <p:cNvSpPr txBox="1"/>
          <p:nvPr/>
        </p:nvSpPr>
        <p:spPr>
          <a:xfrm>
            <a:off x="4685971" y="6378575"/>
            <a:ext cx="331502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45" dirty="0">
                <a:solidFill>
                  <a:srgbClr val="375523"/>
                </a:solidFill>
                <a:latin typeface="Calibri"/>
                <a:cs typeface="Calibri"/>
              </a:rPr>
              <a:t>SECOND</a:t>
            </a:r>
            <a:r>
              <a:rPr sz="1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5523"/>
                </a:solidFill>
                <a:latin typeface="Calibri"/>
                <a:cs typeface="Calibri"/>
              </a:rPr>
              <a:t>REVIEW</a:t>
            </a:r>
            <a:r>
              <a:rPr sz="1800" b="1" spc="-40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75523"/>
                </a:solidFill>
                <a:latin typeface="Calibri"/>
                <a:cs typeface="Calibri"/>
              </a:rPr>
              <a:t>PRESENTATION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32F14D-B0AF-6CC4-F4A3-941849D48EAE}"/>
              </a:ext>
            </a:extLst>
          </p:cNvPr>
          <p:cNvSpPr txBox="1"/>
          <p:nvPr/>
        </p:nvSpPr>
        <p:spPr>
          <a:xfrm>
            <a:off x="11140384" y="637857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448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8525" y="84771"/>
            <a:ext cx="40322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>
                <a:solidFill>
                  <a:srgbClr val="2F5496"/>
                </a:solidFill>
              </a:rPr>
              <a:t>LITERATURE</a:t>
            </a:r>
            <a:r>
              <a:rPr sz="3200" spc="-110" dirty="0">
                <a:solidFill>
                  <a:srgbClr val="2F5496"/>
                </a:solidFill>
              </a:rPr>
              <a:t> </a:t>
            </a:r>
            <a:r>
              <a:rPr sz="3200" spc="-10" dirty="0">
                <a:solidFill>
                  <a:srgbClr val="2F5496"/>
                </a:solidFill>
              </a:rPr>
              <a:t>SURVEY</a:t>
            </a:r>
            <a:endParaRPr sz="3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4F51FD-8DF4-E398-201E-C37A4C254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58609"/>
              </p:ext>
            </p:extLst>
          </p:nvPr>
        </p:nvGraphicFramePr>
        <p:xfrm>
          <a:off x="0" y="719666"/>
          <a:ext cx="12192000" cy="6138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6834">
                  <a:extLst>
                    <a:ext uri="{9D8B030D-6E8A-4147-A177-3AD203B41FA5}">
                      <a16:colId xmlns:a16="http://schemas.microsoft.com/office/drawing/2014/main" val="1216617076"/>
                    </a:ext>
                  </a:extLst>
                </a:gridCol>
                <a:gridCol w="3947583">
                  <a:extLst>
                    <a:ext uri="{9D8B030D-6E8A-4147-A177-3AD203B41FA5}">
                      <a16:colId xmlns:a16="http://schemas.microsoft.com/office/drawing/2014/main" val="2453453908"/>
                    </a:ext>
                  </a:extLst>
                </a:gridCol>
                <a:gridCol w="3947583">
                  <a:extLst>
                    <a:ext uri="{9D8B030D-6E8A-4147-A177-3AD203B41FA5}">
                      <a16:colId xmlns:a16="http://schemas.microsoft.com/office/drawing/2014/main" val="2249277945"/>
                    </a:ext>
                  </a:extLst>
                </a:gridCol>
              </a:tblGrid>
              <a:tr h="1372141">
                <a:tc>
                  <a:txBody>
                    <a:bodyPr/>
                    <a:lstStyle/>
                    <a:p>
                      <a:r>
                        <a:rPr lang="en-US" sz="1500" dirty="0"/>
                        <a:t>Journal Paper Title with Author</a:t>
                      </a:r>
                      <a:endParaRPr lang="en-IN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Works carried out (</a:t>
                      </a:r>
                      <a:r>
                        <a:rPr lang="en-US" sz="1500" dirty="0" err="1"/>
                        <a:t>withdetails</a:t>
                      </a:r>
                      <a:r>
                        <a:rPr lang="en-US" sz="1500" dirty="0"/>
                        <a:t> of Methods/ Materials/ Software/ Algorithms/ fabrication/ techniques/ components used)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Information gathered relevant to your project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952517"/>
                  </a:ext>
                </a:extLst>
              </a:tr>
              <a:tr h="2328138">
                <a:tc>
                  <a:txBody>
                    <a:bodyPr/>
                    <a:lstStyle/>
                    <a:p>
                      <a:endParaRPr lang="en-US" sz="1400" b="1" dirty="0"/>
                    </a:p>
                    <a:p>
                      <a:endParaRPr lang="en-US" sz="1400" b="1" dirty="0"/>
                    </a:p>
                    <a:p>
                      <a:r>
                        <a:rPr lang="en-US" sz="1500" b="1" dirty="0"/>
                        <a:t>AI Based Farmer’s Assistance Chatbot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Patha </a:t>
                      </a:r>
                      <a:r>
                        <a:rPr lang="en-US" sz="1500" b="1" dirty="0" err="1"/>
                        <a:t>Druva</a:t>
                      </a:r>
                      <a:r>
                        <a:rPr lang="en-US" sz="1500" dirty="0"/>
                        <a:t>, </a:t>
                      </a:r>
                      <a:r>
                        <a:rPr lang="en-US" sz="1500" i="1" dirty="0"/>
                        <a:t>International Journal for Research in Applied Science and Engineering Technology (IJRASET), 2023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Developed a chatbot using </a:t>
                      </a:r>
                      <a:r>
                        <a:rPr lang="en-US" sz="1500" b="1" dirty="0"/>
                        <a:t>Natural Language Processing (NLP)</a:t>
                      </a:r>
                      <a:r>
                        <a:rPr lang="en-US" sz="1500" dirty="0"/>
                        <a:t> to assist farmers. - Provides predictions on </a:t>
                      </a:r>
                      <a:r>
                        <a:rPr lang="en-US" sz="1500" b="1" dirty="0"/>
                        <a:t>fertilizer requirements</a:t>
                      </a:r>
                      <a:r>
                        <a:rPr lang="en-US" sz="1500" dirty="0"/>
                        <a:t> and </a:t>
                      </a:r>
                      <a:r>
                        <a:rPr lang="en-US" sz="1500" b="1" dirty="0"/>
                        <a:t>nutrient levels</a:t>
                      </a:r>
                      <a:r>
                        <a:rPr lang="en-US" sz="1500" dirty="0"/>
                        <a:t>. - Uses pre-determined data sources, including </a:t>
                      </a:r>
                      <a:r>
                        <a:rPr lang="en-US" sz="1500" i="1" dirty="0"/>
                        <a:t>The Indian Council of Agricultural Research</a:t>
                      </a:r>
                      <a:r>
                        <a:rPr lang="en-US" sz="1500" dirty="0"/>
                        <a:t>, for accuracy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Helps farmers manage crops efficiently. - Provides real-time assistance for agricultural queries. - Enhances </a:t>
                      </a:r>
                      <a:r>
                        <a:rPr lang="en-US" sz="1500" b="1" dirty="0"/>
                        <a:t>agricultural productivity</a:t>
                      </a:r>
                      <a:r>
                        <a:rPr lang="en-US" sz="1500" dirty="0"/>
                        <a:t> using AI.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609026"/>
                  </a:ext>
                </a:extLst>
              </a:tr>
              <a:tr h="2438055">
                <a:tc>
                  <a:txBody>
                    <a:bodyPr/>
                    <a:lstStyle/>
                    <a:p>
                      <a:r>
                        <a:rPr lang="en-US" sz="1500" b="1" dirty="0"/>
                        <a:t>D. </a:t>
                      </a:r>
                      <a:r>
                        <a:rPr lang="en-US" sz="1500" b="1" dirty="0" err="1"/>
                        <a:t>Anekar</a:t>
                      </a:r>
                      <a:r>
                        <a:rPr lang="en-US" sz="1500" dirty="0"/>
                        <a:t>, "Farmer’s Assistant using AI Voice Bot," </a:t>
                      </a:r>
                      <a:r>
                        <a:rPr lang="en-US" sz="1500" i="1" dirty="0"/>
                        <a:t>International Journal of Advanced Research in Science Communication and Technology (IJARSCT)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- Developed an </a:t>
                      </a:r>
                      <a:r>
                        <a:rPr lang="en-US" sz="1500" b="1" dirty="0"/>
                        <a:t>AI-based chatbot</a:t>
                      </a:r>
                      <a:r>
                        <a:rPr lang="en-US" sz="1500" dirty="0"/>
                        <a:t> to assist farmers in multiple languages (</a:t>
                      </a:r>
                      <a:r>
                        <a:rPr lang="en-US" sz="1500" b="1" dirty="0"/>
                        <a:t>English, Hindi, Marathi</a:t>
                      </a:r>
                      <a:r>
                        <a:rPr lang="en-US" sz="1500" dirty="0"/>
                        <a:t>). - Utilized </a:t>
                      </a:r>
                      <a:r>
                        <a:rPr lang="en-US" sz="1500" b="1" dirty="0"/>
                        <a:t>Natural Language Processing (NLP)</a:t>
                      </a:r>
                      <a:r>
                        <a:rPr lang="en-US" sz="1500" dirty="0"/>
                        <a:t> to process and respond to user queries. - Designed to improve </a:t>
                      </a:r>
                      <a:r>
                        <a:rPr lang="en-US" sz="1500" b="1" dirty="0"/>
                        <a:t>agricultural productivity</a:t>
                      </a:r>
                      <a:r>
                        <a:rPr lang="en-US" sz="1500" dirty="0"/>
                        <a:t> by providing information on crop management, fertilizers, and best practices. - Integrated with AI voice recognition for a user-friendly experience.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farmers to get real-time guidance in multiple languages. - Enhances accessibility and ease of use with </a:t>
                      </a:r>
                      <a:r>
                        <a:rPr lang="en-US" b="1" dirty="0"/>
                        <a:t>voice-based interactions</a:t>
                      </a:r>
                      <a:r>
                        <a:rPr lang="en-US" dirty="0"/>
                        <a:t>. - Supports better decision-making in </a:t>
                      </a:r>
                      <a:r>
                        <a:rPr lang="en-US" b="1" dirty="0"/>
                        <a:t>crop selection, fertilizers, and irrigation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678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8525" y="84771"/>
            <a:ext cx="40322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>
                <a:solidFill>
                  <a:srgbClr val="2F5496"/>
                </a:solidFill>
              </a:rPr>
              <a:t>LITERATURE</a:t>
            </a:r>
            <a:r>
              <a:rPr sz="3200" spc="-110" dirty="0">
                <a:solidFill>
                  <a:srgbClr val="2F5496"/>
                </a:solidFill>
              </a:rPr>
              <a:t> </a:t>
            </a:r>
            <a:r>
              <a:rPr sz="3200" spc="-10" dirty="0">
                <a:solidFill>
                  <a:srgbClr val="2F5496"/>
                </a:solidFill>
              </a:rPr>
              <a:t>SURVEY</a:t>
            </a:r>
            <a:endParaRPr sz="32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F9631A-4B98-9C16-D53A-616BD156C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737067"/>
              </p:ext>
            </p:extLst>
          </p:nvPr>
        </p:nvGraphicFramePr>
        <p:xfrm>
          <a:off x="0" y="604201"/>
          <a:ext cx="12192001" cy="625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9339">
                  <a:extLst>
                    <a:ext uri="{9D8B030D-6E8A-4147-A177-3AD203B41FA5}">
                      <a16:colId xmlns:a16="http://schemas.microsoft.com/office/drawing/2014/main" val="1995942182"/>
                    </a:ext>
                  </a:extLst>
                </a:gridCol>
                <a:gridCol w="4099339">
                  <a:extLst>
                    <a:ext uri="{9D8B030D-6E8A-4147-A177-3AD203B41FA5}">
                      <a16:colId xmlns:a16="http://schemas.microsoft.com/office/drawing/2014/main" val="2147307147"/>
                    </a:ext>
                  </a:extLst>
                </a:gridCol>
                <a:gridCol w="3993323">
                  <a:extLst>
                    <a:ext uri="{9D8B030D-6E8A-4147-A177-3AD203B41FA5}">
                      <a16:colId xmlns:a16="http://schemas.microsoft.com/office/drawing/2014/main" val="4144845172"/>
                    </a:ext>
                  </a:extLst>
                </a:gridCol>
              </a:tblGrid>
              <a:tr h="133812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Journal Paper Title with Author</a:t>
                      </a:r>
                      <a:endParaRPr lang="en-IN" sz="14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Works carried out (</a:t>
                      </a:r>
                      <a:r>
                        <a:rPr lang="en-US" sz="1400" dirty="0" err="1"/>
                        <a:t>withdetails</a:t>
                      </a:r>
                      <a:r>
                        <a:rPr lang="en-US" sz="1400" dirty="0"/>
                        <a:t> of Methods/ Materials/ Software/ Algorithms/ fabrication/ techniques/ components used)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Information gathered relevant to your project</a:t>
                      </a:r>
                      <a:endParaRPr lang="en-IN" sz="14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21276"/>
                  </a:ext>
                </a:extLst>
              </a:tr>
              <a:tr h="2255000">
                <a:tc>
                  <a:txBody>
                    <a:bodyPr/>
                    <a:lstStyle/>
                    <a:p>
                      <a:r>
                        <a:rPr lang="en-IN" sz="1400" b="1" dirty="0"/>
                        <a:t>"Farmer-Bot: An Interactive Bot for Farmers"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Narayana </a:t>
                      </a:r>
                      <a:r>
                        <a:rPr lang="en-IN" sz="1400" b="1" dirty="0" err="1"/>
                        <a:t>Darapaneni</a:t>
                      </a:r>
                      <a:r>
                        <a:rPr lang="en-IN" sz="1400" b="1" dirty="0"/>
                        <a:t>, Rajiv Tiwari, </a:t>
                      </a:r>
                      <a:r>
                        <a:rPr lang="en-IN" sz="1400" b="1" dirty="0" err="1"/>
                        <a:t>Anwesh</a:t>
                      </a:r>
                      <a:r>
                        <a:rPr lang="en-IN" sz="1400" b="1" dirty="0"/>
                        <a:t> </a:t>
                      </a:r>
                      <a:r>
                        <a:rPr lang="en-IN" sz="1400" b="1" dirty="0" err="1"/>
                        <a:t>Paduri</a:t>
                      </a:r>
                      <a:r>
                        <a:rPr lang="en-IN" sz="1400" b="1" dirty="0"/>
                        <a:t>, Suman Saurav, Rohit </a:t>
                      </a:r>
                      <a:r>
                        <a:rPr lang="en-IN" sz="1400" b="1" dirty="0" err="1"/>
                        <a:t>Chaoji</a:t>
                      </a:r>
                      <a:r>
                        <a:rPr lang="en-IN" sz="1400" b="1" dirty="0"/>
                        <a:t>, Sohil</a:t>
                      </a:r>
                      <a:r>
                        <a:rPr lang="en-IN" sz="1400" dirty="0"/>
                        <a:t>, </a:t>
                      </a:r>
                      <a:r>
                        <a:rPr lang="en-IN" sz="1400" i="1" dirty="0" err="1"/>
                        <a:t>arXiv</a:t>
                      </a:r>
                      <a:r>
                        <a:rPr lang="en-IN" sz="1400" i="1" dirty="0"/>
                        <a:t>, April 2022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Developed an </a:t>
                      </a:r>
                      <a:r>
                        <a:rPr lang="en-US" sz="1400" b="1" dirty="0"/>
                        <a:t>AI-based chatbot</a:t>
                      </a:r>
                      <a:r>
                        <a:rPr lang="en-US" sz="1400" dirty="0"/>
                        <a:t> specifically designed for farmers. - Utilized </a:t>
                      </a:r>
                      <a:r>
                        <a:rPr lang="en-US" sz="1400" b="1" dirty="0"/>
                        <a:t>Natural Language Processing (NLP)</a:t>
                      </a:r>
                      <a:r>
                        <a:rPr lang="en-US" sz="1400" dirty="0"/>
                        <a:t> to provide interactive support. - Implemented </a:t>
                      </a:r>
                      <a:r>
                        <a:rPr lang="en-US" sz="1400" b="1" dirty="0"/>
                        <a:t>machine learning techniques</a:t>
                      </a:r>
                      <a:r>
                        <a:rPr lang="en-US" sz="1400" dirty="0"/>
                        <a:t> to enhance recommendations. - Designed to offer </a:t>
                      </a:r>
                      <a:r>
                        <a:rPr lang="en-US" sz="1400" b="1" dirty="0"/>
                        <a:t>agricultural guidance, weather updates, and farming tips</a:t>
                      </a:r>
                      <a:r>
                        <a:rPr lang="en-US" sz="1400" dirty="0"/>
                        <a:t>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Helps farmers make informed decisions using AI. - Provides </a:t>
                      </a:r>
                      <a:r>
                        <a:rPr lang="en-US" sz="1400" b="1" dirty="0"/>
                        <a:t>real-time information on farming techniques, weather conditions, and crop recommendations</a:t>
                      </a:r>
                      <a:r>
                        <a:rPr lang="en-US" sz="1400" dirty="0"/>
                        <a:t>. - Enhances agricultural efficiency through </a:t>
                      </a:r>
                      <a:r>
                        <a:rPr lang="en-US" sz="1400" b="1" dirty="0"/>
                        <a:t>automated assistance</a:t>
                      </a:r>
                      <a:r>
                        <a:rPr lang="en-US" sz="1400" dirty="0"/>
                        <a:t>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528977"/>
                  </a:ext>
                </a:extLst>
              </a:tr>
              <a:tr h="2660676">
                <a:tc>
                  <a:txBody>
                    <a:bodyPr/>
                    <a:lstStyle/>
                    <a:p>
                      <a:r>
                        <a:rPr lang="en-IN" b="1" dirty="0"/>
                        <a:t>Chatbot in Python</a:t>
                      </a:r>
                      <a:r>
                        <a:rPr lang="en-IN" dirty="0"/>
                        <a:t> </a:t>
                      </a:r>
                      <a:br>
                        <a:rPr lang="en-IN" dirty="0"/>
                      </a:br>
                      <a:r>
                        <a:rPr lang="en-IN" i="1" dirty="0"/>
                        <a:t>By Sneha S, Sneha M, Shashank S, Soundarya C, Venkatesh R</a:t>
                      </a:r>
                      <a:r>
                        <a:rPr lang="en-IN" dirty="0"/>
                        <a:t> </a:t>
                      </a:r>
                      <a:br>
                        <a:rPr lang="en-IN" dirty="0"/>
                      </a:br>
                      <a:r>
                        <a:rPr lang="en-IN" i="1" dirty="0"/>
                        <a:t>IRJET (Volume 06, Issue 11, Nov 2019)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</a:t>
                      </a:r>
                      <a:r>
                        <a:rPr lang="en-US" sz="1400" b="1" dirty="0"/>
                        <a:t>AIML (Artificial Intelligence Markup Language)</a:t>
                      </a:r>
                      <a:r>
                        <a:rPr lang="en-US" sz="1400" dirty="0"/>
                        <a:t> for pattern-based query responses. </a:t>
                      </a:r>
                      <a:r>
                        <a:rPr lang="en-US" sz="1400" b="1" dirty="0"/>
                        <a:t>Latent Semantic Analysis (LSA)</a:t>
                      </a:r>
                      <a:r>
                        <a:rPr lang="en-US" sz="1400" dirty="0"/>
                        <a:t> to find word similarities and generate responses.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Implemented using </a:t>
                      </a:r>
                      <a:r>
                        <a:rPr lang="en-US" sz="1400" b="1" dirty="0"/>
                        <a:t>Python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1" dirty="0"/>
                        <a:t>Flask Web Framework</a:t>
                      </a:r>
                      <a:r>
                        <a:rPr lang="en-US" sz="1400" dirty="0"/>
                        <a:t>.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Integrated APIs like </a:t>
                      </a:r>
                      <a:r>
                        <a:rPr lang="en-US" sz="1400" b="1" dirty="0"/>
                        <a:t>Wikipedia, Weather Forecast, News, and Government Services</a:t>
                      </a:r>
                      <a:r>
                        <a:rPr lang="en-US" sz="1400" dirty="0"/>
                        <a:t> for real-time data.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Demonstrates chatbot implementation using </a:t>
                      </a:r>
                      <a:r>
                        <a:rPr lang="en-IN" sz="1400" b="1" dirty="0"/>
                        <a:t>AIML and </a:t>
                      </a:r>
                      <a:r>
                        <a:rPr lang="en-IN" sz="1400" b="1" dirty="0" err="1"/>
                        <a:t>LSA</a:t>
                      </a:r>
                      <a:r>
                        <a:rPr lang="en-IN" sz="1400" dirty="0" err="1"/>
                        <a:t>.Explores</a:t>
                      </a:r>
                      <a:r>
                        <a:rPr lang="en-IN" sz="1400" dirty="0"/>
                        <a:t> how chatbots handle queries </a:t>
                      </a:r>
                      <a:r>
                        <a:rPr lang="en-IN" sz="1400" dirty="0" err="1"/>
                        <a:t>efficiently.Provides</a:t>
                      </a:r>
                      <a:r>
                        <a:rPr lang="en-IN" sz="1400" dirty="0"/>
                        <a:t> insights into integrating external APIs to improve chatbot intelligence.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091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339" y="1666718"/>
            <a:ext cx="10316229" cy="368306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often face difficulty in getting correct information related to crops, weather, pests, and market prices. This project,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Farmer Query Support and Advisory System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provides smart agricultural advice using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(AI)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Farmers can ask questions in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Tamil or English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a simple web application.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and NLP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queries and generate suitable responses. It is developed using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 with Spring AI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backend,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and JavaScript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frontend, and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MongoDB/MySQL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data storage.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AI models like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Ollama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external APIs are used to provide accurate and updated information.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system helps farmers make better decisions and improves access to agricultural knowledge.</a:t>
            </a:r>
          </a:p>
          <a:p>
            <a:pPr marL="12700" algn="just">
              <a:lnSpc>
                <a:spcPct val="150000"/>
              </a:lnSpc>
              <a:spcBef>
                <a:spcPts val="765"/>
              </a:spcBef>
              <a:tabLst>
                <a:tab pos="187325" algn="l"/>
              </a:tabLst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</a:t>
            </a:r>
            <a:r>
              <a:rPr spc="-20" dirty="0"/>
              <a:t>-0</a:t>
            </a:r>
            <a:r>
              <a:rPr lang="en-IN" spc="-20" dirty="0"/>
              <a:t>2</a:t>
            </a:r>
            <a:r>
              <a:rPr spc="-20" dirty="0"/>
              <a:t>-202</a:t>
            </a:r>
            <a:r>
              <a:rPr lang="en-IN" spc="-20" dirty="0"/>
              <a:t>6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685971" y="6435725"/>
            <a:ext cx="3162629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b="1" dirty="0">
                <a:solidFill>
                  <a:srgbClr val="375523"/>
                </a:solidFill>
                <a:latin typeface="Calibri"/>
                <a:cs typeface="Calibri"/>
              </a:rPr>
              <a:t>SECOND </a:t>
            </a:r>
            <a:r>
              <a:rPr sz="1800" b="1" dirty="0">
                <a:solidFill>
                  <a:srgbClr val="375523"/>
                </a:solidFill>
                <a:latin typeface="Calibri"/>
                <a:cs typeface="Calibri"/>
              </a:rPr>
              <a:t>REVIEW</a:t>
            </a:r>
            <a:r>
              <a:rPr sz="1800" b="1" spc="-40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75523"/>
                </a:solidFill>
                <a:latin typeface="Calibri"/>
                <a:cs typeface="Calibri"/>
              </a:rPr>
              <a:t>PRESENTATION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6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F5496"/>
                </a:solidFill>
              </a:rPr>
              <a:t>SCOPE</a:t>
            </a:r>
            <a:r>
              <a:rPr spc="-80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OF</a:t>
            </a:r>
            <a:r>
              <a:rPr spc="-7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THE</a:t>
            </a:r>
            <a:r>
              <a:rPr spc="-7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8145" y="1371600"/>
            <a:ext cx="8855710" cy="3734356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660"/>
              </a:spcBef>
              <a:tabLst>
                <a:tab pos="187325" algn="l"/>
              </a:tabLst>
            </a:pP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 India, a significant number of farmers face challenges accessing crucial agricultural information due to language barriers, as most digital platforms are available only in </a:t>
            </a:r>
            <a:r>
              <a:rPr lang="en-US" sz="2000" spc="-2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English.Lack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of accurate and timely information on soil types, weather predictions, market prices, and suitable seeds affects farmers' decision-making and </a:t>
            </a:r>
            <a:r>
              <a:rPr lang="en-US" sz="2000" spc="-2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productivity.There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is a need for a simple, user-friendly digital solution that provides relevant agricultural insights in regional </a:t>
            </a:r>
            <a:r>
              <a:rPr lang="en-US" sz="2000" spc="-2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languages.This</a:t>
            </a:r>
            <a:r>
              <a:rPr lang="en-US" sz="2000" spc="-2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study addresses this gap by developing a chatbot that supports Tamil and Hindi, empowering farmers with localized and accessible information.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</a:t>
            </a:r>
            <a:r>
              <a:rPr spc="-20" dirty="0"/>
              <a:t>-0</a:t>
            </a:r>
            <a:r>
              <a:rPr lang="en-IN" spc="-20" dirty="0"/>
              <a:t>2</a:t>
            </a:r>
            <a:r>
              <a:rPr spc="-20" dirty="0"/>
              <a:t>-202</a:t>
            </a:r>
            <a:r>
              <a:rPr lang="en-IN" spc="-20" dirty="0"/>
              <a:t>6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685971" y="6435725"/>
            <a:ext cx="3315029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b="1" dirty="0">
                <a:solidFill>
                  <a:srgbClr val="375523"/>
                </a:solidFill>
                <a:latin typeface="Calibri"/>
                <a:cs typeface="Calibri"/>
              </a:rPr>
              <a:t>SECOND </a:t>
            </a:r>
            <a:r>
              <a:rPr sz="1800" b="1" dirty="0">
                <a:solidFill>
                  <a:srgbClr val="375523"/>
                </a:solidFill>
                <a:latin typeface="Calibri"/>
                <a:cs typeface="Calibri"/>
              </a:rPr>
              <a:t>REVIEW</a:t>
            </a:r>
            <a:r>
              <a:rPr sz="1800" b="1" spc="-40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75523"/>
                </a:solidFill>
                <a:latin typeface="Calibri"/>
                <a:cs typeface="Calibri"/>
              </a:rPr>
              <a:t>PRESENTATION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810"/>
              </a:lnSpc>
            </a:pPr>
            <a:fld id="{81D60167-4931-47E6-BA6A-407CBD079E47}" type="slidenum">
              <a:rPr sz="1800" b="1" spc="-50" dirty="0">
                <a:solidFill>
                  <a:srgbClr val="375523"/>
                </a:solidFill>
                <a:latin typeface="Calibri"/>
                <a:cs typeface="Calibri"/>
              </a:rPr>
              <a:t>7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44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F5496"/>
                </a:solidFill>
              </a:rPr>
              <a:t>NEED</a:t>
            </a:r>
            <a:r>
              <a:rPr spc="-60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FOR</a:t>
            </a:r>
            <a:r>
              <a:rPr spc="-5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THE</a:t>
            </a:r>
            <a:r>
              <a:rPr spc="-5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CURRENT</a:t>
            </a:r>
            <a:r>
              <a:rPr spc="-5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15" y="240908"/>
            <a:ext cx="762396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5515">
              <a:lnSpc>
                <a:spcPct val="100000"/>
              </a:lnSpc>
              <a:spcBef>
                <a:spcPts val="100"/>
              </a:spcBef>
            </a:pPr>
            <a:r>
              <a:rPr lang="en-IN" spc="-20" dirty="0">
                <a:solidFill>
                  <a:srgbClr val="2F5496"/>
                </a:solidFill>
              </a:rPr>
              <a:t>PROPOSED</a:t>
            </a:r>
            <a:r>
              <a:rPr lang="en-IN" spc="-50" dirty="0">
                <a:solidFill>
                  <a:srgbClr val="2F5496"/>
                </a:solidFill>
              </a:rPr>
              <a:t> </a:t>
            </a:r>
            <a:r>
              <a:rPr lang="en-IN" spc="-25" dirty="0">
                <a:solidFill>
                  <a:srgbClr val="2F5496"/>
                </a:solidFill>
              </a:rPr>
              <a:t>METHODOLOGY</a:t>
            </a:r>
            <a:r>
              <a:rPr lang="en-IN" spc="-50" dirty="0">
                <a:solidFill>
                  <a:srgbClr val="2F5496"/>
                </a:solidFill>
              </a:rPr>
              <a:t> </a:t>
            </a:r>
            <a:r>
              <a:rPr lang="en-IN" dirty="0">
                <a:solidFill>
                  <a:srgbClr val="2F5496"/>
                </a:solidFill>
              </a:rPr>
              <a:t>(</a:t>
            </a:r>
            <a:r>
              <a:rPr lang="en-IN" spc="-50" dirty="0">
                <a:solidFill>
                  <a:srgbClr val="2F5496"/>
                </a:solidFill>
              </a:rPr>
              <a:t> </a:t>
            </a:r>
            <a:r>
              <a:rPr lang="en-IN" dirty="0">
                <a:solidFill>
                  <a:srgbClr val="2F5496"/>
                </a:solidFill>
              </a:rPr>
              <a:t>Flow</a:t>
            </a:r>
            <a:r>
              <a:rPr lang="en-IN" spc="-45" dirty="0">
                <a:solidFill>
                  <a:srgbClr val="2F5496"/>
                </a:solidFill>
              </a:rPr>
              <a:t> </a:t>
            </a:r>
            <a:r>
              <a:rPr lang="en-IN" spc="-10" dirty="0">
                <a:solidFill>
                  <a:srgbClr val="2F5496"/>
                </a:solidFill>
              </a:rPr>
              <a:t>Chart)</a:t>
            </a:r>
            <a:br>
              <a:rPr lang="en-IN" spc="-10" dirty="0">
                <a:solidFill>
                  <a:srgbClr val="2F5496"/>
                </a:solidFill>
              </a:rPr>
            </a:br>
            <a:br>
              <a:rPr lang="en-IN" spc="-10" dirty="0">
                <a:solidFill>
                  <a:srgbClr val="2F5496"/>
                </a:solidFill>
              </a:rPr>
            </a:br>
            <a:endParaRPr spc="-10" dirty="0">
              <a:solidFill>
                <a:srgbClr val="2F5496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172732" y="6466777"/>
            <a:ext cx="22186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272BDF0-DF1C-6FFD-1B2B-535255E999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4C02CE7-A675-FF47-2935-4CFB520859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A1197F-8435-9C58-0ED9-53BDD9A1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599680"/>
            <a:ext cx="7687748" cy="565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2F5496"/>
                </a:solidFill>
              </a:rPr>
              <a:t>PROPOSED</a:t>
            </a:r>
            <a:r>
              <a:rPr spc="-40" dirty="0">
                <a:solidFill>
                  <a:srgbClr val="2F5496"/>
                </a:solidFill>
              </a:rPr>
              <a:t> </a:t>
            </a:r>
            <a:r>
              <a:rPr spc="-25" dirty="0">
                <a:solidFill>
                  <a:srgbClr val="2F5496"/>
                </a:solidFill>
              </a:rPr>
              <a:t>METHODOLOGY</a:t>
            </a:r>
            <a:r>
              <a:rPr spc="-40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(</a:t>
            </a:r>
            <a:r>
              <a:rPr spc="-40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Gantt</a:t>
            </a:r>
            <a:r>
              <a:rPr spc="-3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Chart)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</a:rPr>
              <a:t>2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172732" y="6466776"/>
            <a:ext cx="23710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4F5092-8094-FE36-97DD-961473656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501" y="1194271"/>
            <a:ext cx="826777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546" y="668564"/>
            <a:ext cx="10541654" cy="61920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187325" algn="l"/>
              </a:tabLst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COMPONENTS &amp; MODULES: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User Interface (Frontend)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– Website for farmers to interact with the chatbot.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Chatbot Engine (Backend)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– AI-powered chatbot built using Python.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Database Module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– MongoDB for storing agricultural queries and responses.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API Integration Module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– Fetches real-time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weather, market prices, and agricultural updates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Speech Processing Module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– Converts text to speech using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pyttsx3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voice responses.</a:t>
            </a:r>
          </a:p>
          <a:p>
            <a:pPr marL="12700">
              <a:spcBef>
                <a:spcPts val="765"/>
              </a:spcBef>
              <a:tabLst>
                <a:tab pos="187325" algn="l"/>
              </a:tabLst>
            </a:pP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>
              <a:spcBef>
                <a:spcPts val="765"/>
              </a:spcBef>
              <a:tabLst>
                <a:tab pos="187325" algn="l"/>
              </a:tabLst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METHODS &amp; TECHNIQUES:</a:t>
            </a:r>
          </a:p>
          <a:p>
            <a:pPr marL="469900" indent="-457200" algn="l"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 (NLP):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Helps chatbot understand user queries.</a:t>
            </a:r>
          </a:p>
          <a:p>
            <a:pPr marL="469900" indent="-457200" algn="l"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Machine Learning (Optional):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Can improve chatbot responses over time.</a:t>
            </a:r>
          </a:p>
          <a:p>
            <a:pPr marL="469900" indent="-457200" algn="l"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Web Development: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React.js for frontend and Flask/Django for backend.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69900" indent="-457200" algn="l">
              <a:spcBef>
                <a:spcPts val="765"/>
              </a:spcBef>
              <a:buFont typeface="+mj-lt"/>
              <a:buAutoNum type="arabicPeriod"/>
              <a:tabLst>
                <a:tab pos="187325" algn="l"/>
              </a:tabLs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Storage &amp; Retrieval: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Efficient handling of user queries with MongoDB.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187325" algn="l"/>
              </a:tabLst>
            </a:pP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187325" algn="l"/>
              </a:tabLst>
            </a:pPr>
            <a:endParaRPr sz="2400" dirty="0">
              <a:solidFill>
                <a:schemeClr val="tx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</a:rPr>
              <a:t>30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1" y="6435726"/>
            <a:ext cx="313817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spc="-45" dirty="0">
                <a:solidFill>
                  <a:srgbClr val="888888"/>
                </a:solidFill>
                <a:latin typeface="Calibri"/>
                <a:cs typeface="Calibri"/>
              </a:rPr>
              <a:t>SECOND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PRESENTATION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9015" y="76316"/>
            <a:ext cx="928878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21105" marR="5080" indent="-1209040">
              <a:lnSpc>
                <a:spcPts val="2590"/>
              </a:lnSpc>
              <a:spcBef>
                <a:spcPts val="425"/>
              </a:spcBef>
              <a:tabLst>
                <a:tab pos="1209040" algn="l"/>
                <a:tab pos="1723389" algn="l"/>
                <a:tab pos="3075305" algn="l"/>
                <a:tab pos="3831590" algn="l"/>
                <a:tab pos="4119245" algn="l"/>
                <a:tab pos="4605020" algn="l"/>
                <a:tab pos="5644515" algn="l"/>
              </a:tabLst>
            </a:pPr>
            <a:r>
              <a:rPr spc="-10" dirty="0">
                <a:solidFill>
                  <a:srgbClr val="2F5496"/>
                </a:solidFill>
              </a:rPr>
              <a:t>CHOICE</a:t>
            </a:r>
            <a:r>
              <a:rPr dirty="0">
                <a:solidFill>
                  <a:srgbClr val="2F5496"/>
                </a:solidFill>
              </a:rPr>
              <a:t>	</a:t>
            </a:r>
            <a:r>
              <a:rPr spc="-25" dirty="0">
                <a:solidFill>
                  <a:srgbClr val="2F5496"/>
                </a:solidFill>
              </a:rPr>
              <a:t>OF</a:t>
            </a:r>
            <a:r>
              <a:rPr dirty="0">
                <a:solidFill>
                  <a:srgbClr val="2F5496"/>
                </a:solidFill>
              </a:rPr>
              <a:t>	</a:t>
            </a:r>
            <a:r>
              <a:rPr spc="-10" dirty="0">
                <a:solidFill>
                  <a:srgbClr val="2F5496"/>
                </a:solidFill>
              </a:rPr>
              <a:t>COMPONENTS</a:t>
            </a:r>
            <a:r>
              <a:rPr dirty="0">
                <a:solidFill>
                  <a:srgbClr val="2F5496"/>
                </a:solidFill>
              </a:rPr>
              <a:t>	</a:t>
            </a:r>
            <a:r>
              <a:rPr spc="-50" dirty="0">
                <a:solidFill>
                  <a:srgbClr val="2F5496"/>
                </a:solidFill>
              </a:rPr>
              <a:t>/</a:t>
            </a:r>
            <a:r>
              <a:rPr dirty="0">
                <a:solidFill>
                  <a:srgbClr val="2F5496"/>
                </a:solidFill>
              </a:rPr>
              <a:t>	</a:t>
            </a:r>
            <a:r>
              <a:rPr spc="-10" dirty="0">
                <a:solidFill>
                  <a:srgbClr val="2F5496"/>
                </a:solidFill>
              </a:rPr>
              <a:t>MODULES</a:t>
            </a:r>
            <a:r>
              <a:rPr dirty="0">
                <a:solidFill>
                  <a:srgbClr val="2F5496"/>
                </a:solidFill>
              </a:rPr>
              <a:t>	/</a:t>
            </a:r>
            <a:r>
              <a:rPr spc="-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METHODS/TECHNIQUES EQUIPMENT</a:t>
            </a:r>
            <a:r>
              <a:rPr dirty="0">
                <a:solidFill>
                  <a:srgbClr val="2F5496"/>
                </a:solidFill>
              </a:rPr>
              <a:t>	USED</a:t>
            </a:r>
            <a:r>
              <a:rPr spc="-80" dirty="0">
                <a:solidFill>
                  <a:srgbClr val="2F5496"/>
                </a:solidFill>
              </a:rPr>
              <a:t> </a:t>
            </a:r>
            <a:r>
              <a:rPr spc="-25" dirty="0">
                <a:solidFill>
                  <a:srgbClr val="2F5496"/>
                </a:solidFill>
              </a:rPr>
              <a:t>FOR</a:t>
            </a:r>
            <a:r>
              <a:rPr dirty="0">
                <a:solidFill>
                  <a:srgbClr val="2F5496"/>
                </a:solidFill>
              </a:rPr>
              <a:t>	</a:t>
            </a:r>
            <a:r>
              <a:rPr spc="-20" dirty="0">
                <a:solidFill>
                  <a:srgbClr val="2F5496"/>
                </a:solidFill>
              </a:rPr>
              <a:t>PROJECT</a:t>
            </a:r>
            <a:r>
              <a:rPr spc="-6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546" y="668565"/>
            <a:ext cx="10770254" cy="5617563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5"/>
              </a:spcBef>
              <a:tabLst>
                <a:tab pos="187325" algn="l"/>
              </a:tabLst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SYSTEM ARCHITECTURE OVERVIEW :</a:t>
            </a:r>
          </a:p>
          <a:p>
            <a:pPr algn="just"/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 Interface (Frontend - React.js)</a:t>
            </a:r>
            <a:endParaRPr lang="en-IN" sz="2000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Farmers interact with the chatbot through a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React.js-based web application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a simple, user-friendly interface for text and voice-based queries.</a:t>
            </a:r>
          </a:p>
          <a:p>
            <a:pPr algn="just"/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Backend Processing (Flask/Django - Python)</a:t>
            </a:r>
            <a:endParaRPr lang="en-IN" sz="2000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Manages chatbot logic, processes user queries, and fetches responses.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Implements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 (NLP)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understand and respond effectively.</a:t>
            </a:r>
          </a:p>
          <a:p>
            <a:pPr algn="just"/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Management (MongoDB)</a:t>
            </a:r>
            <a:endParaRPr lang="en-IN" sz="2000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Stores predefined agricultural FAQs, chatbot responses, and user interactions.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Allows efficient data retrieval for real-time assistance.</a:t>
            </a:r>
          </a:p>
          <a:p>
            <a:pPr algn="just"/>
            <a:r>
              <a:rPr lang="en-IN" sz="24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API Integration Module</a:t>
            </a:r>
            <a:endParaRPr lang="en-IN" sz="2400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Fetches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weather updates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market prices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agriculture news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from external APIs.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Ensures farmers receive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up-to-date information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Speech Processing Module</a:t>
            </a:r>
            <a:endParaRPr lang="en-IN" sz="2000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Uses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pyttsx3 (Text-to-Speech)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convert responses into voice output.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Helps farmers who prefer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audio-based assistance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2700" algn="just">
              <a:lnSpc>
                <a:spcPct val="100000"/>
              </a:lnSpc>
              <a:spcBef>
                <a:spcPts val="765"/>
              </a:spcBef>
              <a:tabLst>
                <a:tab pos="187325" algn="l"/>
              </a:tabLst>
            </a:pP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</a:rPr>
              <a:t>2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172732" y="6322626"/>
            <a:ext cx="22186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F5496"/>
                </a:solidFill>
              </a:rPr>
              <a:t>DESIGN(S)</a:t>
            </a:r>
            <a:r>
              <a:rPr spc="-50" dirty="0">
                <a:solidFill>
                  <a:srgbClr val="2F5496"/>
                </a:solidFill>
              </a:rPr>
              <a:t> </a:t>
            </a:r>
            <a:r>
              <a:rPr spc="-30" dirty="0">
                <a:solidFill>
                  <a:srgbClr val="2F5496"/>
                </a:solidFill>
              </a:rPr>
              <a:t>(HARDWARE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dirty="0">
                <a:solidFill>
                  <a:srgbClr val="2F5496"/>
                </a:solidFill>
              </a:rPr>
              <a:t>/</a:t>
            </a:r>
            <a:r>
              <a:rPr spc="-50" dirty="0">
                <a:solidFill>
                  <a:srgbClr val="2F5496"/>
                </a:solidFill>
              </a:rPr>
              <a:t> </a:t>
            </a:r>
            <a:r>
              <a:rPr spc="-35" dirty="0">
                <a:solidFill>
                  <a:srgbClr val="2F5496"/>
                </a:solidFill>
              </a:rPr>
              <a:t>SOFTWARE</a:t>
            </a:r>
            <a:r>
              <a:rPr spc="-45" dirty="0">
                <a:solidFill>
                  <a:srgbClr val="2F5496"/>
                </a:solidFill>
              </a:rPr>
              <a:t> </a:t>
            </a:r>
            <a:r>
              <a:rPr spc="-10" dirty="0">
                <a:solidFill>
                  <a:srgbClr val="2F5496"/>
                </a:solidFill>
              </a:rPr>
              <a:t>ARCHITECTURE)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0B2E-BAFA-C639-1621-111BBE1F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398B3F9-2B90-BD66-0C0B-1D58D650D9E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</a:rPr>
              <a:t>2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4F42307-BF0D-3A21-E891-8B47251C53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172732" y="6322626"/>
            <a:ext cx="22186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9D9AB1-45A7-02EE-FA26-1BFAB9AE0D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F3F557D-0F9A-B4F8-F6DA-6EDD5CD16F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2F5496"/>
                </a:solidFill>
              </a:rPr>
              <a:t>ANALYSIS OF RESULT AND DISCUSSION</a:t>
            </a:r>
            <a:endParaRPr spc="-10" dirty="0">
              <a:solidFill>
                <a:srgbClr val="2F54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80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1447800"/>
            <a:ext cx="10024688" cy="44307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65"/>
              </a:spcBef>
            </a:pP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Batch</a:t>
            </a:r>
            <a:r>
              <a:rPr sz="2800" b="1" spc="-7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Member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1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: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7376222AD140-HARI HARAN D</a:t>
            </a:r>
          </a:p>
          <a:p>
            <a:pPr marL="104775">
              <a:lnSpc>
                <a:spcPct val="100000"/>
              </a:lnSpc>
              <a:spcBef>
                <a:spcPts val="765"/>
              </a:spcBef>
            </a:pPr>
            <a:r>
              <a:rPr lang="en-IN" sz="28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Front-End ,UI UX:</a:t>
            </a:r>
          </a:p>
          <a:p>
            <a:pPr marL="457200" lvl="0" indent="-328016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simple and user-friendly interface using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and JavaScript</a:t>
            </a:r>
          </a:p>
          <a:p>
            <a:pPr marL="457200" lvl="0" indent="-32801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pages for farmer query input and response display</a:t>
            </a:r>
          </a:p>
          <a:p>
            <a:pPr marL="457200" lvl="0" indent="-32801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easy navigation and clear layout for better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</a:t>
            </a:r>
          </a:p>
          <a:p>
            <a:pPr marL="457200" lvl="0" indent="-32801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frontend with backend using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</a:rPr>
              <a:t>2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172732" y="6435726"/>
            <a:ext cx="20662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INDIVIDUAL</a:t>
            </a:r>
            <a:r>
              <a:rPr spc="-75" dirty="0"/>
              <a:t> </a:t>
            </a:r>
            <a:r>
              <a:rPr spc="-20" dirty="0"/>
              <a:t>CONTRIBUTIONS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20" dirty="0"/>
              <a:t>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5A62-50E4-D14F-E21A-855BF25F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D6F5AB-FCBE-BDEB-9301-0D9A8108B71F}"/>
              </a:ext>
            </a:extLst>
          </p:cNvPr>
          <p:cNvSpPr txBox="1"/>
          <p:nvPr/>
        </p:nvSpPr>
        <p:spPr>
          <a:xfrm>
            <a:off x="1295400" y="1716548"/>
            <a:ext cx="10024688" cy="475322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65"/>
              </a:spcBef>
            </a:pP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Batch</a:t>
            </a:r>
            <a:r>
              <a:rPr sz="2800" b="1" spc="-7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Member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2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: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7376222AD107 ABIRAMI D R</a:t>
            </a:r>
          </a:p>
          <a:p>
            <a:pPr marL="104775">
              <a:lnSpc>
                <a:spcPct val="100000"/>
              </a:lnSpc>
              <a:spcBef>
                <a:spcPts val="765"/>
              </a:spcBef>
            </a:pPr>
            <a:r>
              <a:rPr lang="en-IN" sz="28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DATABASE &amp; API HANDLING</a:t>
            </a:r>
            <a:endParaRPr sz="28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manage database using </a:t>
            </a: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/ MySQL</a:t>
            </a:r>
            <a:b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farmer queries, responses, and system data</a:t>
            </a:r>
            <a:b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API and Market Price API</a:t>
            </a:r>
            <a:b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secure and fast data access</a:t>
            </a:r>
          </a:p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619125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750C2E-0176-0121-EA4B-30B6ECF914D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</a:rPr>
              <a:t>26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</a:rPr>
              <a:t>2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C7ED95D-E860-B23D-3ADE-FEC7DCFEBCE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172732" y="6435726"/>
            <a:ext cx="20662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68EE755-2EA0-2C55-27DF-BD9EBB4DD3F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847B9D-9479-CB24-25DA-FF28D3438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INDIVIDUAL</a:t>
            </a:r>
            <a:r>
              <a:rPr spc="-75" dirty="0"/>
              <a:t> </a:t>
            </a:r>
            <a:r>
              <a:rPr spc="-20" dirty="0"/>
              <a:t>CONTRIBUTIONS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20" dirty="0"/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2869667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F040-9DEC-DAE5-5653-2D82C172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3B2188-7C78-77EB-3EA2-4E21C6C6C5B1}"/>
              </a:ext>
            </a:extLst>
          </p:cNvPr>
          <p:cNvSpPr txBox="1"/>
          <p:nvPr/>
        </p:nvSpPr>
        <p:spPr>
          <a:xfrm>
            <a:off x="1441450" y="1349905"/>
            <a:ext cx="10024688" cy="54611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65"/>
              </a:spcBef>
            </a:pP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Batch</a:t>
            </a:r>
            <a:r>
              <a:rPr sz="2800" b="1" spc="-7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Member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3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:</a:t>
            </a:r>
            <a:r>
              <a:rPr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800" b="1" spc="-6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7376221CD104 ARUNA A</a:t>
            </a:r>
          </a:p>
          <a:p>
            <a:pPr marL="104775">
              <a:lnSpc>
                <a:spcPct val="100000"/>
              </a:lnSpc>
              <a:spcBef>
                <a:spcPts val="765"/>
              </a:spcBef>
            </a:pPr>
            <a:r>
              <a:rPr lang="en-IN" sz="28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Backend Developer</a:t>
            </a:r>
            <a:endParaRPr sz="28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backend services using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</a:t>
            </a:r>
            <a:b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farmer queries and system logic</a:t>
            </a:r>
            <a:b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models (</a:t>
            </a:r>
            <a:r>
              <a:rPr lang="en-IN" sz="28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Ollama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AI APIs)</a:t>
            </a: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query processing</a:t>
            </a:r>
            <a:b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request and response flow between frontend and AI services</a:t>
            </a:r>
            <a:b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619125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7B9051F-567C-CF52-F93A-743B1145A9D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z="1200" b="0" spc="-10" dirty="0">
                <a:solidFill>
                  <a:srgbClr val="888888"/>
                </a:solidFill>
              </a:rPr>
              <a:t>30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-0</a:t>
            </a:r>
            <a:r>
              <a:rPr lang="en-IN" sz="1200" b="0" spc="-1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200" b="0" spc="-1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200" b="0" spc="-20" dirty="0">
                <a:solidFill>
                  <a:srgbClr val="888888"/>
                </a:solidFill>
                <a:latin typeface="Calibri"/>
                <a:cs typeface="Calibri"/>
              </a:rPr>
              <a:t>202</a:t>
            </a:r>
            <a:r>
              <a:rPr lang="en-IN" sz="1200" b="0" spc="-2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CFD995F-9FC4-673C-DF0E-77E527C4E8D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25C706-71DE-4021-F9E8-AD9875DACEE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8DF6837-AA95-06A8-CFF0-F9294FFD6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INDIVIDUAL</a:t>
            </a:r>
            <a:r>
              <a:rPr spc="-75" dirty="0"/>
              <a:t> </a:t>
            </a:r>
            <a:r>
              <a:rPr spc="-20" dirty="0"/>
              <a:t>CONTRIBUTIONS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20" dirty="0"/>
              <a:t>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2D3E76-2E83-4F5A-EE42-17F52D9F69B0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90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</a:t>
            </a:r>
            <a:r>
              <a:rPr spc="-20" dirty="0"/>
              <a:t>-0</a:t>
            </a:r>
            <a:r>
              <a:rPr lang="en-IN" spc="-20" dirty="0"/>
              <a:t>2</a:t>
            </a:r>
            <a:r>
              <a:rPr spc="-20" dirty="0"/>
              <a:t>-202</a:t>
            </a:r>
            <a:r>
              <a:rPr lang="en-IN" spc="-20" dirty="0"/>
              <a:t>6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172732" y="6466777"/>
            <a:ext cx="22948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dirty="0"/>
              <a:t>SECOND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2125" y="490291"/>
            <a:ext cx="3585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PLAN</a:t>
            </a:r>
            <a:r>
              <a:rPr spc="-6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spc="-10" dirty="0"/>
              <a:t>PUBLICATIONS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7" y="945656"/>
            <a:ext cx="8721725" cy="10477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dirty="0">
                <a:latin typeface="Calibri"/>
                <a:cs typeface="Calibri"/>
              </a:rPr>
              <a:t>Journal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Conference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Identified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Submission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spc="-35" dirty="0">
                <a:latin typeface="Calibri"/>
                <a:cs typeface="Calibri"/>
              </a:rPr>
              <a:t>Tentative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Submission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Presentation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Acceptance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</a:t>
            </a:r>
            <a:r>
              <a:rPr spc="-20" dirty="0"/>
              <a:t>-0</a:t>
            </a:r>
            <a:r>
              <a:rPr lang="en-IN" spc="-20" dirty="0"/>
              <a:t>2</a:t>
            </a:r>
            <a:r>
              <a:rPr spc="-20" dirty="0"/>
              <a:t>-202</a:t>
            </a:r>
            <a:r>
              <a:rPr lang="en-IN" spc="-20" dirty="0"/>
              <a:t>6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72732" y="6367710"/>
            <a:ext cx="20662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4645" y="490291"/>
            <a:ext cx="8736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65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spc="-10" dirty="0"/>
              <a:t>Partial</a:t>
            </a:r>
            <a:r>
              <a:rPr spc="-65" dirty="0"/>
              <a:t> </a:t>
            </a:r>
            <a:r>
              <a:rPr dirty="0"/>
              <a:t>Completion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Submission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65" dirty="0"/>
              <a:t> </a:t>
            </a:r>
            <a:r>
              <a:rPr spc="-10" dirty="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225" y="1029984"/>
            <a:ext cx="5114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375523"/>
                </a:solidFill>
                <a:latin typeface="Calibri"/>
                <a:cs typeface="Calibri"/>
              </a:rPr>
              <a:t>List</a:t>
            </a:r>
            <a:r>
              <a:rPr sz="2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75523"/>
                </a:solidFill>
                <a:latin typeface="Calibri"/>
                <a:cs typeface="Calibri"/>
              </a:rPr>
              <a:t>of</a:t>
            </a:r>
            <a:r>
              <a:rPr sz="2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75523"/>
                </a:solidFill>
                <a:latin typeface="Calibri"/>
                <a:cs typeface="Calibri"/>
              </a:rPr>
              <a:t>Documents</a:t>
            </a:r>
            <a:r>
              <a:rPr sz="2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75523"/>
                </a:solidFill>
                <a:latin typeface="Calibri"/>
                <a:cs typeface="Calibri"/>
              </a:rPr>
              <a:t>to</a:t>
            </a:r>
            <a:r>
              <a:rPr sz="2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75523"/>
                </a:solidFill>
                <a:latin typeface="Calibri"/>
                <a:cs typeface="Calibri"/>
              </a:rPr>
              <a:t>be</a:t>
            </a:r>
            <a:r>
              <a:rPr sz="2800" b="1" spc="-45" dirty="0">
                <a:solidFill>
                  <a:srgbClr val="375523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75523"/>
                </a:solidFill>
                <a:latin typeface="Calibri"/>
                <a:cs typeface="Calibri"/>
              </a:rPr>
              <a:t>Submitted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638736"/>
          <a:ext cx="10110470" cy="423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8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Documents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470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drive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prepared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document)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972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Cover</a:t>
                      </a:r>
                      <a:r>
                        <a:rPr sz="2400" spc="-6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r>
                        <a:rPr sz="2400" spc="-6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2400" spc="-6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2400" spc="-6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r>
                        <a:rPr sz="2400" spc="-6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(Both</a:t>
                      </a:r>
                      <a:r>
                        <a:rPr sz="2400" spc="-6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2400" spc="-6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6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same </a:t>
                      </a: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format)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Bonafide</a:t>
                      </a:r>
                      <a:r>
                        <a:rPr sz="2400" spc="-7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Certificate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Declaration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Acknowledgement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Chapter</a:t>
                      </a:r>
                      <a:r>
                        <a:rPr sz="2400" spc="-4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2400" spc="-3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2400" spc="-4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Introduction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Chapter</a:t>
                      </a:r>
                      <a:r>
                        <a:rPr sz="2400" spc="-6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2400" spc="-5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2400" spc="-55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Literature</a:t>
                      </a:r>
                      <a:r>
                        <a:rPr sz="2400" spc="-6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</a:rPr>
                        <a:t>Survey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26-</a:t>
            </a:r>
            <a:r>
              <a:rPr spc="-20" dirty="0"/>
              <a:t>0</a:t>
            </a:r>
            <a:r>
              <a:rPr lang="en-IN" spc="-20" dirty="0"/>
              <a:t>2</a:t>
            </a:r>
            <a:r>
              <a:rPr spc="-20" dirty="0"/>
              <a:t>-202</a:t>
            </a:r>
            <a:r>
              <a:rPr lang="en-IN" spc="-20" dirty="0"/>
              <a:t>6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153036" y="6488295"/>
            <a:ext cx="21424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0149" y="455655"/>
            <a:ext cx="3767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Any</a:t>
            </a:r>
            <a:r>
              <a:rPr spc="-85" dirty="0"/>
              <a:t> </a:t>
            </a:r>
            <a:r>
              <a:rPr dirty="0"/>
              <a:t>Other</a:t>
            </a:r>
            <a:r>
              <a:rPr spc="-80" dirty="0"/>
              <a:t> </a:t>
            </a:r>
            <a:r>
              <a:rPr spc="-25" dirty="0"/>
              <a:t>Relevant</a:t>
            </a:r>
            <a:r>
              <a:rPr spc="-80" dirty="0"/>
              <a:t> </a:t>
            </a:r>
            <a:r>
              <a:rPr spc="-10" dirty="0"/>
              <a:t>Details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</a:t>
            </a:r>
            <a:r>
              <a:rPr spc="-20" dirty="0"/>
              <a:t>-0</a:t>
            </a:r>
            <a:r>
              <a:rPr lang="en-IN" spc="-20" dirty="0"/>
              <a:t>2</a:t>
            </a:r>
            <a:r>
              <a:rPr spc="-20" dirty="0"/>
              <a:t>-202</a:t>
            </a:r>
            <a:r>
              <a:rPr lang="en-IN" spc="-20" dirty="0"/>
              <a:t>6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172732" y="6324600"/>
            <a:ext cx="21424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0149" y="455655"/>
            <a:ext cx="3767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Any</a:t>
            </a:r>
            <a:r>
              <a:rPr spc="-85" dirty="0"/>
              <a:t> </a:t>
            </a:r>
            <a:r>
              <a:rPr dirty="0"/>
              <a:t>Other</a:t>
            </a:r>
            <a:r>
              <a:rPr spc="-80" dirty="0"/>
              <a:t> </a:t>
            </a:r>
            <a:r>
              <a:rPr spc="-25" dirty="0"/>
              <a:t>Relevant</a:t>
            </a:r>
            <a:r>
              <a:rPr spc="-80" dirty="0"/>
              <a:t> </a:t>
            </a:r>
            <a:r>
              <a:rPr spc="-10" dirty="0"/>
              <a:t>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911514"/>
            <a:ext cx="10674985" cy="5445125"/>
          </a:xfrm>
          <a:custGeom>
            <a:avLst/>
            <a:gdLst/>
            <a:ahLst/>
            <a:cxnLst/>
            <a:rect l="l" t="t" r="r" b="b"/>
            <a:pathLst>
              <a:path w="10674985" h="5445125">
                <a:moveTo>
                  <a:pt x="0" y="0"/>
                </a:moveTo>
                <a:lnTo>
                  <a:pt x="10674927" y="0"/>
                </a:lnTo>
                <a:lnTo>
                  <a:pt x="10674927" y="5444835"/>
                </a:lnTo>
                <a:lnTo>
                  <a:pt x="0" y="544483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1225" y="761078"/>
            <a:ext cx="10436860" cy="6121548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Journal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r>
              <a:rPr sz="18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[1].</a:t>
            </a:r>
            <a:r>
              <a:rPr sz="1800" spc="-5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Patha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Druva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Nelki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Sainithin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Muppa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Manisai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and K. Sreelatha, "AI-Based Farmer’s Assistance Chatbot,"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for Research in Applied Science &amp; Engineering Technology (IJRASET)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vol. 11, no. 3, pp. 1234-1242, Mar. 2023. DOI: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10.22214/ijraset.2023.53180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[2].</a:t>
            </a:r>
            <a:r>
              <a:rPr lang="en-US" dirty="0"/>
              <a:t> D. </a:t>
            </a:r>
            <a:r>
              <a:rPr lang="en-US" dirty="0" err="1"/>
              <a:t>Anekar</a:t>
            </a:r>
            <a:r>
              <a:rPr lang="en-US" b="1" dirty="0"/>
              <a:t>,</a:t>
            </a:r>
            <a:r>
              <a:rPr lang="en-US" dirty="0"/>
              <a:t> "Farmer’s Assistant using AI Voice Bot," </a:t>
            </a:r>
            <a:r>
              <a:rPr lang="en-US" i="1" dirty="0"/>
              <a:t>International Journal of Advanced Research in Science Communication and Technology (IJARSCT)</a:t>
            </a:r>
            <a:r>
              <a:rPr lang="en-US" dirty="0"/>
              <a:t>, Apr. 2023. DOI: 10.48175/IJARSCT-9121.</a:t>
            </a: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endParaRPr lang="en-US" dirty="0"/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r>
              <a:rPr lang="en-US" dirty="0"/>
              <a:t>[3] </a:t>
            </a:r>
            <a:r>
              <a:rPr lang="en-IN" dirty="0"/>
              <a:t>N. </a:t>
            </a:r>
            <a:r>
              <a:rPr lang="en-IN" dirty="0" err="1"/>
              <a:t>Darapaneni</a:t>
            </a:r>
            <a:r>
              <a:rPr lang="en-IN" dirty="0"/>
              <a:t>, R. Tiwari, A. R. </a:t>
            </a:r>
            <a:r>
              <a:rPr lang="en-IN" dirty="0" err="1"/>
              <a:t>Paduri</a:t>
            </a:r>
            <a:r>
              <a:rPr lang="en-IN" dirty="0"/>
              <a:t>, S. Saurav, R. </a:t>
            </a:r>
            <a:r>
              <a:rPr lang="en-IN" dirty="0" err="1"/>
              <a:t>Chaoji</a:t>
            </a:r>
            <a:r>
              <a:rPr lang="en-IN" dirty="0"/>
              <a:t>, and S. Sohil, "Farmer-Bot: An Interactive Bot for Farmers," </a:t>
            </a:r>
            <a:r>
              <a:rPr lang="en-IN" i="1" dirty="0" err="1"/>
              <a:t>arXiv</a:t>
            </a:r>
            <a:r>
              <a:rPr lang="en-IN" i="1" dirty="0"/>
              <a:t> preprint</a:t>
            </a:r>
            <a:r>
              <a:rPr lang="en-IN" dirty="0"/>
              <a:t>, arXiv:2204.07032, Apr. 2022. DOI: </a:t>
            </a:r>
            <a:r>
              <a:rPr lang="en-IN" dirty="0">
                <a:hlinkClick r:id="rId3"/>
              </a:rPr>
              <a:t>10.48550/arXiv.2204.07032</a:t>
            </a:r>
            <a:r>
              <a:rPr lang="en-IN" dirty="0"/>
              <a:t>.</a:t>
            </a: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endParaRPr lang="en-IN" dirty="0"/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r>
              <a:rPr lang="en-IN" dirty="0"/>
              <a:t>[4] A. Kumar, P. K. Meena, D. Panda, and M. Sangeetha, "Chatbot in Python," </a:t>
            </a:r>
            <a:r>
              <a:rPr lang="en-IN" i="1" dirty="0"/>
              <a:t>International Research Journal of Engineering and Technology (IRJET)</a:t>
            </a:r>
            <a:r>
              <a:rPr lang="en-IN" dirty="0"/>
              <a:t>, vol. 6, no. 11, pp. 391, Nov. 2019. . Available: </a:t>
            </a:r>
            <a:r>
              <a:rPr lang="en-IN" dirty="0">
                <a:hlinkClick r:id="rId4"/>
              </a:rPr>
              <a:t>https://www.irjet.net</a:t>
            </a:r>
            <a:endParaRPr lang="en-US" dirty="0"/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95"/>
              </a:spcBef>
              <a:tabLst>
                <a:tab pos="6223635" algn="l"/>
              </a:tabLst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5" y="6435725"/>
            <a:ext cx="109093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20" dirty="0"/>
              <a:t>26</a:t>
            </a:r>
            <a:r>
              <a:rPr spc="-20" dirty="0"/>
              <a:t>-02-2025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181600" y="6517184"/>
            <a:ext cx="2218668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5" dirty="0"/>
              <a:t>SECOND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27108" y="117464"/>
            <a:ext cx="5334635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2775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  <a:p>
            <a:pPr algn="ctr">
              <a:lnSpc>
                <a:spcPts val="2055"/>
              </a:lnSpc>
            </a:pPr>
            <a:r>
              <a:rPr sz="1800" dirty="0">
                <a:solidFill>
                  <a:srgbClr val="00B050"/>
                </a:solidFill>
              </a:rPr>
              <a:t>(</a:t>
            </a:r>
            <a:r>
              <a:rPr sz="1800" spc="-35" dirty="0">
                <a:solidFill>
                  <a:srgbClr val="00B050"/>
                </a:solidFill>
              </a:rPr>
              <a:t> </a:t>
            </a:r>
            <a:r>
              <a:rPr sz="1800" dirty="0">
                <a:solidFill>
                  <a:srgbClr val="00B050"/>
                </a:solidFill>
              </a:rPr>
              <a:t>Journal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dirty="0">
                <a:solidFill>
                  <a:srgbClr val="00B050"/>
                </a:solidFill>
              </a:rPr>
              <a:t>Papers/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dirty="0">
                <a:solidFill>
                  <a:srgbClr val="00B050"/>
                </a:solidFill>
              </a:rPr>
              <a:t>Books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dirty="0">
                <a:solidFill>
                  <a:srgbClr val="00B050"/>
                </a:solidFill>
              </a:rPr>
              <a:t>/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spc="-20" dirty="0">
                <a:solidFill>
                  <a:srgbClr val="00B050"/>
                </a:solidFill>
              </a:rPr>
              <a:t>Website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dirty="0">
                <a:solidFill>
                  <a:srgbClr val="00B050"/>
                </a:solidFill>
              </a:rPr>
              <a:t>in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dirty="0">
                <a:solidFill>
                  <a:srgbClr val="00B050"/>
                </a:solidFill>
              </a:rPr>
              <a:t>IEEE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spc="-10" dirty="0">
                <a:solidFill>
                  <a:srgbClr val="00B050"/>
                </a:solidFill>
              </a:rPr>
              <a:t>Format</a:t>
            </a:r>
            <a:r>
              <a:rPr sz="1800" spc="-30" dirty="0">
                <a:solidFill>
                  <a:srgbClr val="00B050"/>
                </a:solidFill>
              </a:rPr>
              <a:t> </a:t>
            </a:r>
            <a:r>
              <a:rPr sz="1800" spc="-50" dirty="0">
                <a:solidFill>
                  <a:srgbClr val="00B050"/>
                </a:solidFill>
              </a:rPr>
              <a:t>)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1889</Words>
  <Application>Microsoft Office PowerPoint</Application>
  <PresentationFormat>Widescreen</PresentationFormat>
  <Paragraphs>196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AIM &amp; OBJECTIVES OF THE PROJECT</vt:lpstr>
      <vt:lpstr>AIM &amp; OBJECTIVES OF THE PROJECT</vt:lpstr>
      <vt:lpstr>LITERATURE SURVEY</vt:lpstr>
      <vt:lpstr>LITERATURE SURVEY</vt:lpstr>
      <vt:lpstr>SCOPE OF THE PROJECT</vt:lpstr>
      <vt:lpstr>NEED FOR THE CURRENT STUDY</vt:lpstr>
      <vt:lpstr>PROPOSED METHODOLOGY ( Flow Chart)  </vt:lpstr>
      <vt:lpstr>PROPOSED METHODOLOGY ( Gantt Chart)</vt:lpstr>
      <vt:lpstr>CHOICE OF COMPONENTS / MODULES / METHODS/TECHNIQUES EQUIPMENT USED FOR PROJECT DEVELOPMENT</vt:lpstr>
      <vt:lpstr>DESIGN(S) (HARDWARE / SOFTWARE ARCHITECTURE)</vt:lpstr>
      <vt:lpstr>ANALYSIS OF RESULT AND DISCUSSION</vt:lpstr>
      <vt:lpstr>INDIVIDUAL CONTRIBUTIONS TO THE WORK</vt:lpstr>
      <vt:lpstr>INDIVIDUAL CONTRIBUTIONS TO THE WORK</vt:lpstr>
      <vt:lpstr>INDIVIDUAL CONTRIBUTIONS TO THE WORK</vt:lpstr>
      <vt:lpstr>PLAN FOR PUBLICATIONS</vt:lpstr>
      <vt:lpstr>Status on Partial Completion and Submission of Project Report</vt:lpstr>
      <vt:lpstr>Any Other Relevant Details</vt:lpstr>
      <vt:lpstr>Any Other Relevant Details</vt:lpstr>
      <vt:lpstr>REFERENCES ( Journal Papers/ Books / Website in IEEE Format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Format to be followed for Ist Review .pptx</dc:title>
  <dc:creator>Star</dc:creator>
  <cp:lastModifiedBy>Star</cp:lastModifiedBy>
  <cp:revision>14</cp:revision>
  <dcterms:created xsi:type="dcterms:W3CDTF">2025-02-18T08:57:32Z</dcterms:created>
  <dcterms:modified xsi:type="dcterms:W3CDTF">2026-02-25T13:37:16Z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2025-02-18T00:00:00Z</vt:filetime>
  </property>
</Properties>
</file>